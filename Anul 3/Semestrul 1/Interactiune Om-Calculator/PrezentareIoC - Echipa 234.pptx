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Open Sans Semi-Bold" charset="1" panose="00000000000000000000"/>
      <p:regular r:id="rId19"/>
    </p:embeddedFont>
    <p:embeddedFont>
      <p:font typeface="Open Sans" charset="1" panose="00000000000000000000"/>
      <p:regular r:id="rId20"/>
    </p:embeddedFont>
    <p:embeddedFont>
      <p:font typeface="Open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jpe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4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2.png" Type="http://schemas.openxmlformats.org/officeDocument/2006/relationships/image"/><Relationship Id="rId16" Target="../media/image3.svg" Type="http://schemas.openxmlformats.org/officeDocument/2006/relationships/image"/><Relationship Id="rId17" Target="../media/image4.png" Type="http://schemas.openxmlformats.org/officeDocument/2006/relationships/image"/><Relationship Id="rId18" Target="../media/image5.svg" Type="http://schemas.openxmlformats.org/officeDocument/2006/relationships/image"/><Relationship Id="rId19" Target="../media/image6.png" Type="http://schemas.openxmlformats.org/officeDocument/2006/relationships/image"/><Relationship Id="rId2" Target="../media/image1.png" Type="http://schemas.openxmlformats.org/officeDocument/2006/relationships/image"/><Relationship Id="rId20" Target="../media/image7.svg" Type="http://schemas.openxmlformats.org/officeDocument/2006/relationships/image"/><Relationship Id="rId21" Target="../media/image8.png" Type="http://schemas.openxmlformats.org/officeDocument/2006/relationships/image"/><Relationship Id="rId22" Target="../media/image9.svg" Type="http://schemas.openxmlformats.org/officeDocument/2006/relationships/image"/><Relationship Id="rId23" Target="../media/image10.png" Type="http://schemas.openxmlformats.org/officeDocument/2006/relationships/image"/><Relationship Id="rId24" Target="../media/image11.svg" Type="http://schemas.openxmlformats.org/officeDocument/2006/relationships/image"/><Relationship Id="rId25" Target="../media/image12.png" Type="http://schemas.openxmlformats.org/officeDocument/2006/relationships/image"/><Relationship Id="rId26" Target="../media/image13.sv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6453418"/>
            <a:ext cx="18288000" cy="4181315"/>
            <a:chOff x="0" y="0"/>
            <a:chExt cx="24384000" cy="55750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842634" y="2906062"/>
              <a:ext cx="1473693" cy="2456156"/>
            </a:xfrm>
            <a:custGeom>
              <a:avLst/>
              <a:gdLst/>
              <a:ahLst/>
              <a:cxnLst/>
              <a:rect r="r" b="b" t="t" l="l"/>
              <a:pathLst>
                <a:path h="2456156" w="1473693">
                  <a:moveTo>
                    <a:pt x="0" y="0"/>
                  </a:moveTo>
                  <a:lnTo>
                    <a:pt x="1473693" y="0"/>
                  </a:lnTo>
                  <a:lnTo>
                    <a:pt x="1473693" y="2456156"/>
                  </a:lnTo>
                  <a:lnTo>
                    <a:pt x="0" y="2456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02152" y="3289682"/>
              <a:ext cx="2348998" cy="2101375"/>
            </a:xfrm>
            <a:custGeom>
              <a:avLst/>
              <a:gdLst/>
              <a:ahLst/>
              <a:cxnLst/>
              <a:rect r="r" b="b" t="t" l="l"/>
              <a:pathLst>
                <a:path h="2101375" w="2348998">
                  <a:moveTo>
                    <a:pt x="0" y="0"/>
                  </a:moveTo>
                  <a:lnTo>
                    <a:pt x="2348998" y="0"/>
                  </a:lnTo>
                  <a:lnTo>
                    <a:pt x="2348998" y="2101374"/>
                  </a:lnTo>
                  <a:lnTo>
                    <a:pt x="0" y="2101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018846" y="390350"/>
              <a:ext cx="6770058" cy="5184736"/>
            </a:xfrm>
            <a:custGeom>
              <a:avLst/>
              <a:gdLst/>
              <a:ahLst/>
              <a:cxnLst/>
              <a:rect r="r" b="b" t="t" l="l"/>
              <a:pathLst>
                <a:path h="5184736" w="6770058">
                  <a:moveTo>
                    <a:pt x="0" y="0"/>
                  </a:moveTo>
                  <a:lnTo>
                    <a:pt x="6770058" y="0"/>
                  </a:lnTo>
                  <a:lnTo>
                    <a:pt x="6770058" y="5184737"/>
                  </a:lnTo>
                  <a:lnTo>
                    <a:pt x="0" y="518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7684122" y="390350"/>
              <a:ext cx="6699878" cy="4971868"/>
            </a:xfrm>
            <a:custGeom>
              <a:avLst/>
              <a:gdLst/>
              <a:ahLst/>
              <a:cxnLst/>
              <a:rect r="r" b="b" t="t" l="l"/>
              <a:pathLst>
                <a:path h="4971868" w="6699878">
                  <a:moveTo>
                    <a:pt x="0" y="0"/>
                  </a:moveTo>
                  <a:lnTo>
                    <a:pt x="6699878" y="0"/>
                  </a:lnTo>
                  <a:lnTo>
                    <a:pt x="6699878" y="4971868"/>
                  </a:lnTo>
                  <a:lnTo>
                    <a:pt x="0" y="4971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362392" y="3039709"/>
              <a:ext cx="2566797" cy="2244878"/>
            </a:xfrm>
            <a:custGeom>
              <a:avLst/>
              <a:gdLst/>
              <a:ahLst/>
              <a:cxnLst/>
              <a:rect r="r" b="b" t="t" l="l"/>
              <a:pathLst>
                <a:path h="2244878" w="2566797">
                  <a:moveTo>
                    <a:pt x="0" y="0"/>
                  </a:moveTo>
                  <a:lnTo>
                    <a:pt x="2566797" y="0"/>
                  </a:lnTo>
                  <a:lnTo>
                    <a:pt x="2566797" y="2244878"/>
                  </a:lnTo>
                  <a:lnTo>
                    <a:pt x="0" y="224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15125" cy="5391056"/>
            </a:xfrm>
            <a:custGeom>
              <a:avLst/>
              <a:gdLst/>
              <a:ahLst/>
              <a:cxnLst/>
              <a:rect r="r" b="b" t="t" l="l"/>
              <a:pathLst>
                <a:path h="5391056" w="6015125">
                  <a:moveTo>
                    <a:pt x="0" y="0"/>
                  </a:moveTo>
                  <a:lnTo>
                    <a:pt x="6015125" y="0"/>
                  </a:lnTo>
                  <a:lnTo>
                    <a:pt x="6015125" y="5391056"/>
                  </a:lnTo>
                  <a:lnTo>
                    <a:pt x="0" y="5391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864111" y="847725"/>
            <a:ext cx="10559777" cy="3379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05"/>
              </a:lnSpc>
            </a:pPr>
            <a:r>
              <a:rPr lang="en-US" sz="9718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Orașul Meseriilor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83466" y="4450967"/>
            <a:ext cx="5321069" cy="89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2609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Aplicație educativă interactivă </a:t>
            </a:r>
          </a:p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2609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pentru copii preșcolari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3040" y="5562653"/>
            <a:ext cx="5521921" cy="84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b="true" sz="241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Curs: Interacțiunea Om–Calculator</a:t>
            </a:r>
          </a:p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b="true" sz="241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Echipa 234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11481" y="-404455"/>
            <a:ext cx="9952929" cy="11095911"/>
            <a:chOff x="0" y="0"/>
            <a:chExt cx="2621348" cy="2922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1348" cy="2922380"/>
            </a:xfrm>
            <a:custGeom>
              <a:avLst/>
              <a:gdLst/>
              <a:ahLst/>
              <a:cxnLst/>
              <a:rect r="r" b="b" t="t" l="l"/>
              <a:pathLst>
                <a:path h="2922380" w="2621348">
                  <a:moveTo>
                    <a:pt x="0" y="0"/>
                  </a:moveTo>
                  <a:lnTo>
                    <a:pt x="2621348" y="0"/>
                  </a:lnTo>
                  <a:lnTo>
                    <a:pt x="2621348" y="2922380"/>
                  </a:lnTo>
                  <a:lnTo>
                    <a:pt x="0" y="2922380"/>
                  </a:lnTo>
                  <a:close/>
                </a:path>
              </a:pathLst>
            </a:custGeom>
            <a:solidFill>
              <a:srgbClr val="F1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21348" cy="2970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74548" y="8365171"/>
            <a:ext cx="7781477" cy="1264490"/>
          </a:xfrm>
          <a:custGeom>
            <a:avLst/>
            <a:gdLst/>
            <a:ahLst/>
            <a:cxnLst/>
            <a:rect r="r" b="b" t="t" l="l"/>
            <a:pathLst>
              <a:path h="1264490" w="7781477">
                <a:moveTo>
                  <a:pt x="0" y="0"/>
                </a:moveTo>
                <a:lnTo>
                  <a:pt x="7781477" y="0"/>
                </a:lnTo>
                <a:lnTo>
                  <a:pt x="7781477" y="1264490"/>
                </a:lnTo>
                <a:lnTo>
                  <a:pt x="0" y="126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74548" y="1028700"/>
            <a:ext cx="7884752" cy="8229600"/>
          </a:xfrm>
          <a:custGeom>
            <a:avLst/>
            <a:gdLst/>
            <a:ahLst/>
            <a:cxnLst/>
            <a:rect r="r" b="b" t="t" l="l"/>
            <a:pathLst>
              <a:path h="8229600" w="7884752">
                <a:moveTo>
                  <a:pt x="0" y="0"/>
                </a:moveTo>
                <a:lnTo>
                  <a:pt x="7884752" y="0"/>
                </a:lnTo>
                <a:lnTo>
                  <a:pt x="78847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055" t="0" r="-3360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231772"/>
            <a:ext cx="7110132" cy="478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226" indent="-329613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Aplicație desktop educativă pentru copii de 5–6 ani</a:t>
            </a:r>
          </a:p>
          <a:p>
            <a:pPr algn="l" marL="659226" indent="-329613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Învățare prin joc, fără text scris</a:t>
            </a:r>
          </a:p>
          <a:p>
            <a:pPr algn="l" marL="659226" indent="-329613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Accent pe:</a:t>
            </a:r>
          </a:p>
          <a:p>
            <a:pPr algn="l" marL="1318452" indent="-439484" lvl="2">
              <a:lnSpc>
                <a:spcPts val="4274"/>
              </a:lnSpc>
              <a:buFont typeface="Arial"/>
              <a:buChar char="⚬"/>
            </a:pPr>
            <a:r>
              <a:rPr lang="en-US" b="true" sz="3053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procese secvențiale</a:t>
            </a:r>
          </a:p>
          <a:p>
            <a:pPr algn="l" marL="1318452" indent="-439484" lvl="2">
              <a:lnSpc>
                <a:spcPts val="4274"/>
              </a:lnSpc>
              <a:buFont typeface="Arial"/>
              <a:buChar char="⚬"/>
            </a:pPr>
            <a:r>
              <a:rPr lang="en-US" b="true" sz="3053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coordonare mână–ochi</a:t>
            </a:r>
          </a:p>
          <a:p>
            <a:pPr algn="l" marL="1318452" indent="-439484" lvl="2">
              <a:lnSpc>
                <a:spcPts val="4274"/>
              </a:lnSpc>
              <a:buFont typeface="Arial"/>
              <a:buChar char="⚬"/>
            </a:pPr>
            <a:r>
              <a:rPr lang="en-US" b="true" sz="3053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utilizarea mouse-ului</a:t>
            </a:r>
          </a:p>
          <a:p>
            <a:pPr algn="l" marL="659226" indent="-329613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Interacțiune vizuală, auditivă și comenzi simple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3450"/>
            <a:ext cx="4975509" cy="181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2"/>
              </a:lnSpc>
            </a:pPr>
            <a:r>
              <a:rPr lang="en-US" sz="5230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 ȘI CERINȚĂ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4033" y="-293899"/>
            <a:ext cx="9952929" cy="11095911"/>
            <a:chOff x="0" y="0"/>
            <a:chExt cx="2621348" cy="2922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1348" cy="2922380"/>
            </a:xfrm>
            <a:custGeom>
              <a:avLst/>
              <a:gdLst/>
              <a:ahLst/>
              <a:cxnLst/>
              <a:rect r="r" b="b" t="t" l="l"/>
              <a:pathLst>
                <a:path h="2922380" w="2621348">
                  <a:moveTo>
                    <a:pt x="0" y="0"/>
                  </a:moveTo>
                  <a:lnTo>
                    <a:pt x="2621348" y="0"/>
                  </a:lnTo>
                  <a:lnTo>
                    <a:pt x="2621348" y="2922380"/>
                  </a:lnTo>
                  <a:lnTo>
                    <a:pt x="0" y="2922380"/>
                  </a:lnTo>
                  <a:close/>
                </a:path>
              </a:pathLst>
            </a:custGeom>
            <a:solidFill>
              <a:srgbClr val="272B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21348" cy="2970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5201" y="691951"/>
            <a:ext cx="7546461" cy="2876315"/>
          </a:xfrm>
          <a:custGeom>
            <a:avLst/>
            <a:gdLst/>
            <a:ahLst/>
            <a:cxnLst/>
            <a:rect r="r" b="b" t="t" l="l"/>
            <a:pathLst>
              <a:path h="2876315" w="7546461">
                <a:moveTo>
                  <a:pt x="0" y="0"/>
                </a:moveTo>
                <a:lnTo>
                  <a:pt x="7546461" y="0"/>
                </a:lnTo>
                <a:lnTo>
                  <a:pt x="7546461" y="2876315"/>
                </a:lnTo>
                <a:lnTo>
                  <a:pt x="0" y="2876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5201" y="4042797"/>
            <a:ext cx="7546461" cy="5215503"/>
          </a:xfrm>
          <a:custGeom>
            <a:avLst/>
            <a:gdLst/>
            <a:ahLst/>
            <a:cxnLst/>
            <a:rect r="r" b="b" t="t" l="l"/>
            <a:pathLst>
              <a:path h="5215503" w="7546461">
                <a:moveTo>
                  <a:pt x="0" y="0"/>
                </a:moveTo>
                <a:lnTo>
                  <a:pt x="7546461" y="0"/>
                </a:lnTo>
                <a:lnTo>
                  <a:pt x="7546461" y="5215503"/>
                </a:lnTo>
                <a:lnTo>
                  <a:pt x="0" y="5215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86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1407160"/>
            <a:ext cx="8522889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Proiectul</a:t>
            </a:r>
            <a:r>
              <a:rPr lang="en-US" b="true" sz="2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„Orașul Meseriilor”</a:t>
            </a: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fost realizat la propunerea doamnei educatoare Anamaria Moldovan, de la Grădinița Albinuța, Cluj-Napoca, pentru copiii din grupa mare (5–6 ani).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Aplicația a fost concepută special pentru această grupă, în urma discuțiilor despre nevoia unor activități educative interactive, adaptate copiilor care nu știu să citească și au experiență limitată în utilizarea calculatorului.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Proiectul a fost dezvoltat în strânsă legătură cu mediul educațional real și ulterior testat direct cu copiii din grupă.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75580" y="-2031851"/>
            <a:ext cx="20839160" cy="5038387"/>
            <a:chOff x="0" y="0"/>
            <a:chExt cx="5488503" cy="1326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8503" cy="1326983"/>
            </a:xfrm>
            <a:custGeom>
              <a:avLst/>
              <a:gdLst/>
              <a:ahLst/>
              <a:cxnLst/>
              <a:rect r="r" b="b" t="t" l="l"/>
              <a:pathLst>
                <a:path h="1326983" w="5488503">
                  <a:moveTo>
                    <a:pt x="0" y="0"/>
                  </a:moveTo>
                  <a:lnTo>
                    <a:pt x="5488503" y="0"/>
                  </a:lnTo>
                  <a:lnTo>
                    <a:pt x="5488503" y="1326983"/>
                  </a:lnTo>
                  <a:lnTo>
                    <a:pt x="0" y="1326983"/>
                  </a:lnTo>
                  <a:close/>
                </a:path>
              </a:pathLst>
            </a:custGeom>
            <a:solidFill>
              <a:srgbClr val="F1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8503" cy="137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442565"/>
            <a:ext cx="7158657" cy="6073375"/>
          </a:xfrm>
          <a:custGeom>
            <a:avLst/>
            <a:gdLst/>
            <a:ahLst/>
            <a:cxnLst/>
            <a:rect r="r" b="b" t="t" l="l"/>
            <a:pathLst>
              <a:path h="6073375" w="7158657">
                <a:moveTo>
                  <a:pt x="0" y="0"/>
                </a:moveTo>
                <a:lnTo>
                  <a:pt x="7158657" y="0"/>
                </a:lnTo>
                <a:lnTo>
                  <a:pt x="7158657" y="6073375"/>
                </a:lnTo>
                <a:lnTo>
                  <a:pt x="0" y="6073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49" t="0" r="-1848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3385415"/>
            <a:ext cx="7692228" cy="427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3610" indent="-376805" lvl="1">
              <a:lnSpc>
                <a:spcPts val="4886"/>
              </a:lnSpc>
              <a:buFont typeface="Arial"/>
              <a:buChar char="•"/>
            </a:pPr>
            <a:r>
              <a:rPr lang="en-US" sz="349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Copii preșcolari (grupă mare)</a:t>
            </a:r>
          </a:p>
          <a:p>
            <a:pPr algn="l" marL="753610" indent="-376805" lvl="1">
              <a:lnSpc>
                <a:spcPts val="4886"/>
              </a:lnSpc>
              <a:buFont typeface="Arial"/>
              <a:buChar char="•"/>
            </a:pPr>
            <a:r>
              <a:rPr lang="en-US" sz="349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Nivel redus de experiență cu mouse-ul</a:t>
            </a:r>
          </a:p>
          <a:p>
            <a:pPr algn="l" marL="753610" indent="-376805" lvl="1">
              <a:lnSpc>
                <a:spcPts val="4886"/>
              </a:lnSpc>
              <a:buFont typeface="Arial"/>
              <a:buChar char="•"/>
            </a:pPr>
            <a:r>
              <a:rPr lang="en-US" sz="349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Nu știu să citească → interfață fără text</a:t>
            </a:r>
          </a:p>
          <a:p>
            <a:pPr algn="l" marL="753610" indent="-376805" lvl="1">
              <a:lnSpc>
                <a:spcPts val="4886"/>
              </a:lnSpc>
              <a:spcBef>
                <a:spcPct val="0"/>
              </a:spcBef>
              <a:buFont typeface="Arial"/>
              <a:buChar char="•"/>
            </a:pPr>
            <a:r>
              <a:rPr lang="en-US" sz="349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Utilizare în mediu supravegheat (grădiniță / acasă)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91669"/>
            <a:ext cx="8115300" cy="107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5"/>
              </a:lnSpc>
            </a:pPr>
            <a:r>
              <a:rPr lang="en-US" sz="6261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UTILIZATORI ȚINTĂ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75127"/>
            <a:ext cx="8756729" cy="432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Hub central: un oraș explorabil</a:t>
            </a:r>
          </a:p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Fiecare meserie = un joc educativ</a:t>
            </a:r>
          </a:p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Design:</a:t>
            </a:r>
          </a:p>
          <a:p>
            <a:pPr algn="l" marL="1338595" indent="-446198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pictograme mari</a:t>
            </a:r>
          </a:p>
          <a:p>
            <a:pPr algn="l" marL="1338595" indent="-446198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culori contrastante</a:t>
            </a:r>
          </a:p>
          <a:p>
            <a:pPr algn="l" marL="1338595" indent="-446198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feedback audio-vizual</a:t>
            </a:r>
          </a:p>
          <a:p>
            <a:pPr algn="l" marL="669298" indent="-334649" lvl="1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00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Mediu „fără eșec” (greșelile nu sunt penalizate)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61717" y="6615656"/>
            <a:ext cx="18611433" cy="4255264"/>
            <a:chOff x="0" y="0"/>
            <a:chExt cx="24815244" cy="5673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945964" y="2957458"/>
              <a:ext cx="1499756" cy="2499594"/>
            </a:xfrm>
            <a:custGeom>
              <a:avLst/>
              <a:gdLst/>
              <a:ahLst/>
              <a:cxnLst/>
              <a:rect r="r" b="b" t="t" l="l"/>
              <a:pathLst>
                <a:path h="2499594" w="1499756">
                  <a:moveTo>
                    <a:pt x="0" y="0"/>
                  </a:moveTo>
                  <a:lnTo>
                    <a:pt x="1499756" y="0"/>
                  </a:lnTo>
                  <a:lnTo>
                    <a:pt x="1499756" y="2499594"/>
                  </a:lnTo>
                  <a:lnTo>
                    <a:pt x="0" y="2499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227757" y="3347861"/>
              <a:ext cx="2390541" cy="2138539"/>
            </a:xfrm>
            <a:custGeom>
              <a:avLst/>
              <a:gdLst/>
              <a:ahLst/>
              <a:cxnLst/>
              <a:rect r="r" b="b" t="t" l="l"/>
              <a:pathLst>
                <a:path h="2138539" w="2390541">
                  <a:moveTo>
                    <a:pt x="0" y="0"/>
                  </a:moveTo>
                  <a:lnTo>
                    <a:pt x="2390541" y="0"/>
                  </a:lnTo>
                  <a:lnTo>
                    <a:pt x="2390541" y="2138539"/>
                  </a:lnTo>
                  <a:lnTo>
                    <a:pt x="0" y="21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3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78349" y="397254"/>
              <a:ext cx="6889791" cy="5276431"/>
            </a:xfrm>
            <a:custGeom>
              <a:avLst/>
              <a:gdLst/>
              <a:ahLst/>
              <a:cxnLst/>
              <a:rect r="r" b="b" t="t" l="l"/>
              <a:pathLst>
                <a:path h="5276431" w="6889791">
                  <a:moveTo>
                    <a:pt x="0" y="0"/>
                  </a:moveTo>
                  <a:lnTo>
                    <a:pt x="6889791" y="0"/>
                  </a:lnTo>
                  <a:lnTo>
                    <a:pt x="6889791" y="5276431"/>
                  </a:lnTo>
                  <a:lnTo>
                    <a:pt x="0" y="5276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3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7996876" y="397254"/>
              <a:ext cx="6818369" cy="5059798"/>
            </a:xfrm>
            <a:custGeom>
              <a:avLst/>
              <a:gdLst/>
              <a:ahLst/>
              <a:cxnLst/>
              <a:rect r="r" b="b" t="t" l="l"/>
              <a:pathLst>
                <a:path h="5059798" w="6818369">
                  <a:moveTo>
                    <a:pt x="0" y="0"/>
                  </a:moveTo>
                  <a:lnTo>
                    <a:pt x="6818368" y="0"/>
                  </a:lnTo>
                  <a:lnTo>
                    <a:pt x="6818368" y="5059798"/>
                  </a:lnTo>
                  <a:lnTo>
                    <a:pt x="0" y="5059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634084" y="3093468"/>
              <a:ext cx="2612192" cy="2284580"/>
            </a:xfrm>
            <a:custGeom>
              <a:avLst/>
              <a:gdLst/>
              <a:ahLst/>
              <a:cxnLst/>
              <a:rect r="r" b="b" t="t" l="l"/>
              <a:pathLst>
                <a:path h="2284580" w="2612192">
                  <a:moveTo>
                    <a:pt x="0" y="0"/>
                  </a:moveTo>
                  <a:lnTo>
                    <a:pt x="2612192" y="0"/>
                  </a:lnTo>
                  <a:lnTo>
                    <a:pt x="2612192" y="2284580"/>
                  </a:lnTo>
                  <a:lnTo>
                    <a:pt x="0" y="2284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13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21506" cy="5486400"/>
            </a:xfrm>
            <a:custGeom>
              <a:avLst/>
              <a:gdLst/>
              <a:ahLst/>
              <a:cxnLst/>
              <a:rect r="r" b="b" t="t" l="l"/>
              <a:pathLst>
                <a:path h="5486400" w="6121506">
                  <a:moveTo>
                    <a:pt x="0" y="0"/>
                  </a:moveTo>
                  <a:lnTo>
                    <a:pt x="6121506" y="0"/>
                  </a:lnTo>
                  <a:lnTo>
                    <a:pt x="612150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936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144000" y="1162647"/>
            <a:ext cx="8115300" cy="3672173"/>
          </a:xfrm>
          <a:custGeom>
            <a:avLst/>
            <a:gdLst/>
            <a:ahLst/>
            <a:cxnLst/>
            <a:rect r="r" b="b" t="t" l="l"/>
            <a:pathLst>
              <a:path h="3672173" w="8115300">
                <a:moveTo>
                  <a:pt x="0" y="0"/>
                </a:moveTo>
                <a:lnTo>
                  <a:pt x="8115300" y="0"/>
                </a:lnTo>
                <a:lnTo>
                  <a:pt x="8115300" y="3672173"/>
                </a:lnTo>
                <a:lnTo>
                  <a:pt x="0" y="3672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5143500"/>
            <a:ext cx="8115300" cy="3710116"/>
          </a:xfrm>
          <a:custGeom>
            <a:avLst/>
            <a:gdLst/>
            <a:ahLst/>
            <a:cxnLst/>
            <a:rect r="r" b="b" t="t" l="l"/>
            <a:pathLst>
              <a:path h="3710116" w="8115300">
                <a:moveTo>
                  <a:pt x="0" y="0"/>
                </a:moveTo>
                <a:lnTo>
                  <a:pt x="8115300" y="0"/>
                </a:lnTo>
                <a:lnTo>
                  <a:pt x="8115300" y="3710116"/>
                </a:lnTo>
                <a:lnTo>
                  <a:pt x="0" y="37101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729" r="-306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236311"/>
            <a:ext cx="81153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CONCEPTUL 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APLICAȚIEI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B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069" y="576766"/>
            <a:ext cx="17211862" cy="9133468"/>
            <a:chOff x="0" y="0"/>
            <a:chExt cx="4533165" cy="24055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3165" cy="2405522"/>
            </a:xfrm>
            <a:custGeom>
              <a:avLst/>
              <a:gdLst/>
              <a:ahLst/>
              <a:cxnLst/>
              <a:rect r="r" b="b" t="t" l="l"/>
              <a:pathLst>
                <a:path h="2405522" w="4533165">
                  <a:moveTo>
                    <a:pt x="0" y="0"/>
                  </a:moveTo>
                  <a:lnTo>
                    <a:pt x="4533165" y="0"/>
                  </a:lnTo>
                  <a:lnTo>
                    <a:pt x="4533165" y="2405522"/>
                  </a:lnTo>
                  <a:lnTo>
                    <a:pt x="0" y="24055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33165" cy="2453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1765799"/>
            <a:ext cx="6834784" cy="6595566"/>
          </a:xfrm>
          <a:custGeom>
            <a:avLst/>
            <a:gdLst/>
            <a:ahLst/>
            <a:cxnLst/>
            <a:rect r="r" b="b" t="t" l="l"/>
            <a:pathLst>
              <a:path h="6595566" w="6834784">
                <a:moveTo>
                  <a:pt x="0" y="0"/>
                </a:moveTo>
                <a:lnTo>
                  <a:pt x="6834784" y="0"/>
                </a:lnTo>
                <a:lnTo>
                  <a:pt x="6834784" y="6595567"/>
                </a:lnTo>
                <a:lnTo>
                  <a:pt x="0" y="659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5333" y="4831050"/>
            <a:ext cx="7251553" cy="354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102" indent="-363051" lvl="1">
              <a:lnSpc>
                <a:spcPts val="4708"/>
              </a:lnSpc>
              <a:buFont typeface="Arial"/>
              <a:buChar char="•"/>
            </a:pPr>
            <a:r>
              <a:rPr lang="en-US" b="true" sz="3363">
                <a:solidFill>
                  <a:srgbClr val="272B6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HTML, CSS, JavaScript</a:t>
            </a:r>
          </a:p>
          <a:p>
            <a:pPr algn="l" marL="726102" indent="-363051" lvl="1">
              <a:lnSpc>
                <a:spcPts val="4708"/>
              </a:lnSpc>
              <a:buFont typeface="Arial"/>
              <a:buChar char="•"/>
            </a:pPr>
            <a:r>
              <a:rPr lang="en-US" sz="3363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Aplicație rulabilă local (fără internet)</a:t>
            </a:r>
          </a:p>
          <a:p>
            <a:pPr algn="l" marL="726102" indent="-363051" lvl="1">
              <a:lnSpc>
                <a:spcPts val="4708"/>
              </a:lnSpc>
              <a:buFont typeface="Arial"/>
              <a:buChar char="•"/>
            </a:pPr>
            <a:r>
              <a:rPr lang="en-US" sz="3363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Ilustrații SVG realizate în Canva</a:t>
            </a:r>
          </a:p>
          <a:p>
            <a:pPr algn="l" marL="726102" indent="-363051" lvl="1">
              <a:lnSpc>
                <a:spcPts val="4708"/>
              </a:lnSpc>
              <a:buFont typeface="Arial"/>
              <a:buChar char="•"/>
            </a:pPr>
            <a:r>
              <a:rPr lang="en-US" sz="3363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Cod sursă public pe GitHub</a:t>
            </a:r>
          </a:p>
          <a:p>
            <a:pPr algn="l">
              <a:lnSpc>
                <a:spcPts val="470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65333" y="1622924"/>
            <a:ext cx="7251553" cy="265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2"/>
              </a:lnSpc>
            </a:pPr>
            <a:r>
              <a:rPr lang="en-US" sz="7623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TEHNOLOGII FOLOSITE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740667" y="6736883"/>
            <a:ext cx="2476232" cy="2476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29295" y="6332893"/>
            <a:ext cx="3358706" cy="4114800"/>
          </a:xfrm>
          <a:custGeom>
            <a:avLst/>
            <a:gdLst/>
            <a:ahLst/>
            <a:cxnLst/>
            <a:rect r="r" b="b" t="t" l="l"/>
            <a:pathLst>
              <a:path h="4114800" w="3358706">
                <a:moveTo>
                  <a:pt x="0" y="0"/>
                </a:moveTo>
                <a:lnTo>
                  <a:pt x="3358705" y="0"/>
                </a:lnTo>
                <a:lnTo>
                  <a:pt x="33587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48680" y="8729152"/>
            <a:ext cx="1857883" cy="1718541"/>
          </a:xfrm>
          <a:custGeom>
            <a:avLst/>
            <a:gdLst/>
            <a:ahLst/>
            <a:cxnLst/>
            <a:rect r="r" b="b" t="t" l="l"/>
            <a:pathLst>
              <a:path h="1718541" w="1857883">
                <a:moveTo>
                  <a:pt x="0" y="0"/>
                </a:moveTo>
                <a:lnTo>
                  <a:pt x="1857883" y="0"/>
                </a:lnTo>
                <a:lnTo>
                  <a:pt x="1857883" y="1718541"/>
                </a:lnTo>
                <a:lnTo>
                  <a:pt x="0" y="1718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64473" y="8339201"/>
            <a:ext cx="2469683" cy="2108492"/>
          </a:xfrm>
          <a:custGeom>
            <a:avLst/>
            <a:gdLst/>
            <a:ahLst/>
            <a:cxnLst/>
            <a:rect r="r" b="b" t="t" l="l"/>
            <a:pathLst>
              <a:path h="2108492" w="2469683">
                <a:moveTo>
                  <a:pt x="0" y="0"/>
                </a:moveTo>
                <a:lnTo>
                  <a:pt x="2469684" y="0"/>
                </a:lnTo>
                <a:lnTo>
                  <a:pt x="2469684" y="2108492"/>
                </a:lnTo>
                <a:lnTo>
                  <a:pt x="0" y="21084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33195" y="6332893"/>
            <a:ext cx="4829105" cy="4114800"/>
          </a:xfrm>
          <a:custGeom>
            <a:avLst/>
            <a:gdLst/>
            <a:ahLst/>
            <a:cxnLst/>
            <a:rect r="r" b="b" t="t" l="l"/>
            <a:pathLst>
              <a:path h="4114800" w="4829105">
                <a:moveTo>
                  <a:pt x="0" y="0"/>
                </a:moveTo>
                <a:lnTo>
                  <a:pt x="4829105" y="0"/>
                </a:lnTo>
                <a:lnTo>
                  <a:pt x="4829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24069" y="9082740"/>
            <a:ext cx="2178116" cy="1364953"/>
          </a:xfrm>
          <a:custGeom>
            <a:avLst/>
            <a:gdLst/>
            <a:ahLst/>
            <a:cxnLst/>
            <a:rect r="r" b="b" t="t" l="l"/>
            <a:pathLst>
              <a:path h="1364953" w="2178116">
                <a:moveTo>
                  <a:pt x="0" y="0"/>
                </a:moveTo>
                <a:lnTo>
                  <a:pt x="2178116" y="0"/>
                </a:lnTo>
                <a:lnTo>
                  <a:pt x="2178116" y="1364953"/>
                </a:lnTo>
                <a:lnTo>
                  <a:pt x="0" y="13649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1228" y="7498586"/>
            <a:ext cx="4795297" cy="2949108"/>
          </a:xfrm>
          <a:custGeom>
            <a:avLst/>
            <a:gdLst/>
            <a:ahLst/>
            <a:cxnLst/>
            <a:rect r="r" b="b" t="t" l="l"/>
            <a:pathLst>
              <a:path h="2949108" w="4795297">
                <a:moveTo>
                  <a:pt x="0" y="0"/>
                </a:moveTo>
                <a:lnTo>
                  <a:pt x="4795297" y="0"/>
                </a:lnTo>
                <a:lnTo>
                  <a:pt x="4795297" y="2949107"/>
                </a:lnTo>
                <a:lnTo>
                  <a:pt x="0" y="29491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15113" y="2430548"/>
            <a:ext cx="11057775" cy="315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4"/>
              </a:lnSpc>
            </a:pPr>
            <a:r>
              <a:rPr lang="en-US" sz="18467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7882" y="-486400"/>
            <a:ext cx="9658350" cy="11307964"/>
            <a:chOff x="0" y="0"/>
            <a:chExt cx="2543763" cy="29782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3763" cy="2978229"/>
            </a:xfrm>
            <a:custGeom>
              <a:avLst/>
              <a:gdLst/>
              <a:ahLst/>
              <a:cxnLst/>
              <a:rect r="r" b="b" t="t" l="l"/>
              <a:pathLst>
                <a:path h="2978229" w="2543763">
                  <a:moveTo>
                    <a:pt x="0" y="0"/>
                  </a:moveTo>
                  <a:lnTo>
                    <a:pt x="2543763" y="0"/>
                  </a:lnTo>
                  <a:lnTo>
                    <a:pt x="2543763" y="2978229"/>
                  </a:lnTo>
                  <a:lnTo>
                    <a:pt x="0" y="2978229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43763" cy="3025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28951" y="2885057"/>
            <a:ext cx="9074403" cy="3947587"/>
          </a:xfrm>
          <a:custGeom>
            <a:avLst/>
            <a:gdLst/>
            <a:ahLst/>
            <a:cxnLst/>
            <a:rect r="r" b="b" t="t" l="l"/>
            <a:pathLst>
              <a:path h="3947587" w="9074403">
                <a:moveTo>
                  <a:pt x="0" y="0"/>
                </a:moveTo>
                <a:lnTo>
                  <a:pt x="9074403" y="0"/>
                </a:lnTo>
                <a:lnTo>
                  <a:pt x="9074403" y="3947587"/>
                </a:lnTo>
                <a:lnTo>
                  <a:pt x="0" y="3947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648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5221" y="4019770"/>
            <a:ext cx="7614704" cy="465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538" indent="-318269" lvl="1">
              <a:lnSpc>
                <a:spcPts val="4127"/>
              </a:lnSpc>
              <a:buFont typeface="Arial"/>
              <a:buChar char="•"/>
            </a:pPr>
            <a:r>
              <a:rPr lang="en-US" b="true" sz="2948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Interfață bazată pe pictograme, fără text</a:t>
            </a:r>
          </a:p>
          <a:p>
            <a:pPr algn="l" marL="636538" indent="-318269" lvl="1">
              <a:lnSpc>
                <a:spcPts val="4127"/>
              </a:lnSpc>
              <a:buFont typeface="Arial"/>
              <a:buChar char="•"/>
            </a:pPr>
            <a:r>
              <a:rPr lang="en-US" b="true" sz="2948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Feedback audio și comenzi vocale simple</a:t>
            </a:r>
          </a:p>
          <a:p>
            <a:pPr algn="l" marL="636538" indent="-318269" lvl="1">
              <a:lnSpc>
                <a:spcPts val="4127"/>
              </a:lnSpc>
              <a:buFont typeface="Arial"/>
              <a:buChar char="•"/>
            </a:pPr>
            <a:r>
              <a:rPr lang="en-US" b="true" sz="2948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Compatibilă cu naratorul Windows</a:t>
            </a:r>
          </a:p>
          <a:p>
            <a:pPr algn="l" marL="636538" indent="-318269" lvl="1">
              <a:lnSpc>
                <a:spcPts val="4127"/>
              </a:lnSpc>
              <a:buFont typeface="Arial"/>
              <a:buChar char="•"/>
            </a:pPr>
            <a:r>
              <a:rPr lang="en-US" b="true" sz="2948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Evaluare Lighthouse:</a:t>
            </a:r>
          </a:p>
          <a:p>
            <a:pPr algn="l" marL="636538" indent="-318269" lvl="1">
              <a:lnSpc>
                <a:spcPts val="4127"/>
              </a:lnSpc>
              <a:buFont typeface="Arial"/>
              <a:buChar char="•"/>
            </a:pPr>
            <a:r>
              <a:rPr lang="en-US" b="true" sz="2948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Scor Accessibility: 87/100</a:t>
            </a:r>
          </a:p>
          <a:p>
            <a:pPr algn="l" marL="636538" indent="-318269" lvl="1">
              <a:lnSpc>
                <a:spcPts val="4127"/>
              </a:lnSpc>
              <a:buFont typeface="Arial"/>
              <a:buChar char="•"/>
            </a:pPr>
            <a:r>
              <a:rPr lang="en-US" b="true" sz="2948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Probleme minore, ușor de îmbunătățit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73570"/>
            <a:ext cx="7187747" cy="111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7"/>
              </a:lnSpc>
            </a:pPr>
            <a:r>
              <a:rPr lang="en-US" sz="6433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ACCESIBILITATE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67630"/>
            <a:ext cx="12756228" cy="574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742" indent="-321371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Inițial testată de echipă acasă</a:t>
            </a:r>
          </a:p>
          <a:p>
            <a:pPr algn="l" marL="642742" indent="-321371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Testare realizată în grădiniță</a:t>
            </a:r>
          </a:p>
          <a:p>
            <a:pPr algn="l" marL="642742" indent="-321371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Feedback:</a:t>
            </a:r>
          </a:p>
          <a:p>
            <a:pPr algn="l" marL="1285484" indent="-428495" lvl="2">
              <a:lnSpc>
                <a:spcPts val="4167"/>
              </a:lnSpc>
              <a:buFont typeface="Arial"/>
              <a:buChar char="⚬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de la educatoare</a:t>
            </a:r>
          </a:p>
          <a:p>
            <a:pPr algn="l" marL="1285484" indent="-428495" lvl="2">
              <a:lnSpc>
                <a:spcPts val="4167"/>
              </a:lnSpc>
              <a:buFont typeface="Arial"/>
              <a:buChar char="⚬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prin observarea copiilor</a:t>
            </a:r>
          </a:p>
          <a:p>
            <a:pPr algn="l" marL="642742" indent="-321371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Îmbunătățiri făcute:</a:t>
            </a:r>
          </a:p>
          <a:p>
            <a:pPr algn="l" marL="1285484" indent="-428495" lvl="2">
              <a:lnSpc>
                <a:spcPts val="4167"/>
              </a:lnSpc>
              <a:buFont typeface="Arial"/>
              <a:buChar char="⚬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eliminarea textului</a:t>
            </a:r>
          </a:p>
          <a:p>
            <a:pPr algn="l" marL="1285484" indent="-428495" lvl="2">
              <a:lnSpc>
                <a:spcPts val="4167"/>
              </a:lnSpc>
              <a:buFont typeface="Arial"/>
              <a:buChar char="⚬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mai multe ilustrații</a:t>
            </a:r>
          </a:p>
          <a:p>
            <a:pPr algn="l" marL="1285484" indent="-428495" lvl="2">
              <a:lnSpc>
                <a:spcPts val="4167"/>
              </a:lnSpc>
              <a:buFont typeface="Arial"/>
              <a:buChar char="⚬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simplificarea jocurilor</a:t>
            </a:r>
          </a:p>
          <a:p>
            <a:pPr algn="l" marL="642742" indent="-321371" lvl="1">
              <a:lnSpc>
                <a:spcPts val="4167"/>
              </a:lnSpc>
              <a:spcBef>
                <a:spcPct val="0"/>
              </a:spcBef>
              <a:buFont typeface="Arial"/>
              <a:buChar char="•"/>
            </a:pPr>
            <a:r>
              <a:rPr lang="en-US" sz="2977">
                <a:solidFill>
                  <a:srgbClr val="171810"/>
                </a:solidFill>
                <a:latin typeface="Open Sans"/>
                <a:ea typeface="Open Sans"/>
                <a:cs typeface="Open Sans"/>
                <a:sym typeface="Open Sans"/>
              </a:rPr>
              <a:t>Copiii au fost entuziasmați, dar a fost nevoie de acomodare cu mouse-ul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711144" y="1028700"/>
            <a:ext cx="5548156" cy="4114800"/>
            <a:chOff x="0" y="0"/>
            <a:chExt cx="109593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5932" cy="812800"/>
            </a:xfrm>
            <a:custGeom>
              <a:avLst/>
              <a:gdLst/>
              <a:ahLst/>
              <a:cxnLst/>
              <a:rect r="r" b="b" t="t" l="l"/>
              <a:pathLst>
                <a:path h="812800" w="1095932">
                  <a:moveTo>
                    <a:pt x="32094" y="0"/>
                  </a:moveTo>
                  <a:lnTo>
                    <a:pt x="1063838" y="0"/>
                  </a:lnTo>
                  <a:cubicBezTo>
                    <a:pt x="1072350" y="0"/>
                    <a:pt x="1080513" y="3381"/>
                    <a:pt x="1086532" y="9400"/>
                  </a:cubicBezTo>
                  <a:cubicBezTo>
                    <a:pt x="1092551" y="15419"/>
                    <a:pt x="1095932" y="23582"/>
                    <a:pt x="1095932" y="32094"/>
                  </a:cubicBezTo>
                  <a:lnTo>
                    <a:pt x="1095932" y="780706"/>
                  </a:lnTo>
                  <a:cubicBezTo>
                    <a:pt x="1095932" y="798431"/>
                    <a:pt x="1081563" y="812800"/>
                    <a:pt x="1063838" y="812800"/>
                  </a:cubicBezTo>
                  <a:lnTo>
                    <a:pt x="32094" y="812800"/>
                  </a:lnTo>
                  <a:cubicBezTo>
                    <a:pt x="14369" y="812800"/>
                    <a:pt x="0" y="798431"/>
                    <a:pt x="0" y="780706"/>
                  </a:cubicBezTo>
                  <a:lnTo>
                    <a:pt x="0" y="32094"/>
                  </a:lnTo>
                  <a:cubicBezTo>
                    <a:pt x="0" y="14369"/>
                    <a:pt x="14369" y="0"/>
                    <a:pt x="3209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62" r="0" b="-5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76833" y="5024850"/>
            <a:ext cx="5882467" cy="3489154"/>
            <a:chOff x="0" y="0"/>
            <a:chExt cx="137032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0323" cy="812800"/>
            </a:xfrm>
            <a:custGeom>
              <a:avLst/>
              <a:gdLst/>
              <a:ahLst/>
              <a:cxnLst/>
              <a:rect r="r" b="b" t="t" l="l"/>
              <a:pathLst>
                <a:path h="812800" w="1370323">
                  <a:moveTo>
                    <a:pt x="30270" y="0"/>
                  </a:moveTo>
                  <a:lnTo>
                    <a:pt x="1340053" y="0"/>
                  </a:lnTo>
                  <a:cubicBezTo>
                    <a:pt x="1348081" y="0"/>
                    <a:pt x="1355781" y="3189"/>
                    <a:pt x="1361457" y="8866"/>
                  </a:cubicBezTo>
                  <a:cubicBezTo>
                    <a:pt x="1367134" y="14543"/>
                    <a:pt x="1370323" y="22242"/>
                    <a:pt x="1370323" y="30270"/>
                  </a:cubicBezTo>
                  <a:lnTo>
                    <a:pt x="1370323" y="782530"/>
                  </a:lnTo>
                  <a:cubicBezTo>
                    <a:pt x="1370323" y="790558"/>
                    <a:pt x="1367134" y="798257"/>
                    <a:pt x="1361457" y="803934"/>
                  </a:cubicBezTo>
                  <a:cubicBezTo>
                    <a:pt x="1355781" y="809611"/>
                    <a:pt x="1348081" y="812800"/>
                    <a:pt x="1340053" y="812800"/>
                  </a:cubicBezTo>
                  <a:lnTo>
                    <a:pt x="30270" y="812800"/>
                  </a:lnTo>
                  <a:cubicBezTo>
                    <a:pt x="22242" y="812800"/>
                    <a:pt x="14543" y="809611"/>
                    <a:pt x="8866" y="803934"/>
                  </a:cubicBezTo>
                  <a:cubicBezTo>
                    <a:pt x="3189" y="798257"/>
                    <a:pt x="0" y="790558"/>
                    <a:pt x="0" y="782530"/>
                  </a:cubicBezTo>
                  <a:lnTo>
                    <a:pt x="0" y="30270"/>
                  </a:lnTo>
                  <a:cubicBezTo>
                    <a:pt x="0" y="22242"/>
                    <a:pt x="3189" y="14543"/>
                    <a:pt x="8866" y="8866"/>
                  </a:cubicBezTo>
                  <a:cubicBezTo>
                    <a:pt x="14543" y="3189"/>
                    <a:pt x="22242" y="0"/>
                    <a:pt x="30270" y="0"/>
                  </a:cubicBezTo>
                  <a:close/>
                </a:path>
              </a:pathLst>
            </a:custGeom>
            <a:blipFill>
              <a:blip r:embed="rId3"/>
              <a:stretch>
                <a:fillRect l="-5482" t="0" r="-5482" b="-523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23903" y="2284436"/>
            <a:ext cx="3507572" cy="350757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0766" y="0"/>
                  </a:moveTo>
                  <a:lnTo>
                    <a:pt x="762034" y="0"/>
                  </a:lnTo>
                  <a:cubicBezTo>
                    <a:pt x="775498" y="0"/>
                    <a:pt x="788411" y="5349"/>
                    <a:pt x="797931" y="14869"/>
                  </a:cubicBezTo>
                  <a:cubicBezTo>
                    <a:pt x="807451" y="24389"/>
                    <a:pt x="812800" y="37302"/>
                    <a:pt x="812800" y="50766"/>
                  </a:cubicBezTo>
                  <a:lnTo>
                    <a:pt x="812800" y="762034"/>
                  </a:lnTo>
                  <a:cubicBezTo>
                    <a:pt x="812800" y="775498"/>
                    <a:pt x="807451" y="788411"/>
                    <a:pt x="797931" y="797931"/>
                  </a:cubicBezTo>
                  <a:cubicBezTo>
                    <a:pt x="788411" y="807451"/>
                    <a:pt x="775498" y="812800"/>
                    <a:pt x="762034" y="812800"/>
                  </a:cubicBezTo>
                  <a:lnTo>
                    <a:pt x="50766" y="812800"/>
                  </a:lnTo>
                  <a:cubicBezTo>
                    <a:pt x="37302" y="812800"/>
                    <a:pt x="24389" y="807451"/>
                    <a:pt x="14869" y="797931"/>
                  </a:cubicBezTo>
                  <a:cubicBezTo>
                    <a:pt x="5349" y="788411"/>
                    <a:pt x="0" y="775498"/>
                    <a:pt x="0" y="762034"/>
                  </a:cubicBezTo>
                  <a:lnTo>
                    <a:pt x="0" y="50766"/>
                  </a:lnTo>
                  <a:cubicBezTo>
                    <a:pt x="0" y="37302"/>
                    <a:pt x="5349" y="24389"/>
                    <a:pt x="14869" y="14869"/>
                  </a:cubicBezTo>
                  <a:cubicBezTo>
                    <a:pt x="24389" y="5349"/>
                    <a:pt x="37302" y="0"/>
                    <a:pt x="5076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3185" r="0" b="-14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419320" y="6529286"/>
            <a:ext cx="622069" cy="582483"/>
          </a:xfrm>
          <a:custGeom>
            <a:avLst/>
            <a:gdLst/>
            <a:ahLst/>
            <a:cxnLst/>
            <a:rect r="r" b="b" t="t" l="l"/>
            <a:pathLst>
              <a:path h="582483" w="622069">
                <a:moveTo>
                  <a:pt x="0" y="0"/>
                </a:moveTo>
                <a:lnTo>
                  <a:pt x="622069" y="0"/>
                </a:lnTo>
                <a:lnTo>
                  <a:pt x="622069" y="582483"/>
                </a:lnTo>
                <a:lnTo>
                  <a:pt x="0" y="582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12943" y="6928044"/>
            <a:ext cx="622069" cy="582483"/>
          </a:xfrm>
          <a:custGeom>
            <a:avLst/>
            <a:gdLst/>
            <a:ahLst/>
            <a:cxnLst/>
            <a:rect r="r" b="b" t="t" l="l"/>
            <a:pathLst>
              <a:path h="582483" w="622069">
                <a:moveTo>
                  <a:pt x="0" y="0"/>
                </a:moveTo>
                <a:lnTo>
                  <a:pt x="622069" y="0"/>
                </a:lnTo>
                <a:lnTo>
                  <a:pt x="622069" y="582483"/>
                </a:lnTo>
                <a:lnTo>
                  <a:pt x="0" y="582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5825"/>
            <a:ext cx="7251553" cy="265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2"/>
              </a:lnSpc>
            </a:pPr>
            <a:r>
              <a:rPr lang="en-US" sz="7623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EVALUARE PROTOTIP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595426" y="6563621"/>
            <a:ext cx="439586" cy="411612"/>
          </a:xfrm>
          <a:custGeom>
            <a:avLst/>
            <a:gdLst/>
            <a:ahLst/>
            <a:cxnLst/>
            <a:rect r="r" b="b" t="t" l="l"/>
            <a:pathLst>
              <a:path h="411612" w="439586">
                <a:moveTo>
                  <a:pt x="0" y="0"/>
                </a:moveTo>
                <a:lnTo>
                  <a:pt x="439586" y="0"/>
                </a:lnTo>
                <a:lnTo>
                  <a:pt x="439586" y="411612"/>
                </a:lnTo>
                <a:lnTo>
                  <a:pt x="0" y="4116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07032" y="6527473"/>
            <a:ext cx="478190" cy="447760"/>
          </a:xfrm>
          <a:custGeom>
            <a:avLst/>
            <a:gdLst/>
            <a:ahLst/>
            <a:cxnLst/>
            <a:rect r="r" b="b" t="t" l="l"/>
            <a:pathLst>
              <a:path h="447760" w="478190">
                <a:moveTo>
                  <a:pt x="0" y="0"/>
                </a:moveTo>
                <a:lnTo>
                  <a:pt x="478190" y="0"/>
                </a:lnTo>
                <a:lnTo>
                  <a:pt x="478190" y="447760"/>
                </a:lnTo>
                <a:lnTo>
                  <a:pt x="0" y="447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11528" y="7416928"/>
            <a:ext cx="478190" cy="447760"/>
          </a:xfrm>
          <a:custGeom>
            <a:avLst/>
            <a:gdLst/>
            <a:ahLst/>
            <a:cxnLst/>
            <a:rect r="r" b="b" t="t" l="l"/>
            <a:pathLst>
              <a:path h="447760" w="478190">
                <a:moveTo>
                  <a:pt x="0" y="0"/>
                </a:moveTo>
                <a:lnTo>
                  <a:pt x="478190" y="0"/>
                </a:lnTo>
                <a:lnTo>
                  <a:pt x="478190" y="447759"/>
                </a:lnTo>
                <a:lnTo>
                  <a:pt x="0" y="447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57211" y="1028700"/>
            <a:ext cx="7953245" cy="8229600"/>
            <a:chOff x="0" y="0"/>
            <a:chExt cx="209468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468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94682">
                  <a:moveTo>
                    <a:pt x="0" y="0"/>
                  </a:moveTo>
                  <a:lnTo>
                    <a:pt x="2094682" y="0"/>
                  </a:lnTo>
                  <a:lnTo>
                    <a:pt x="209468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1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94682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544" y="1028700"/>
            <a:ext cx="7993491" cy="8229600"/>
            <a:chOff x="0" y="0"/>
            <a:chExt cx="2105282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528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105282">
                  <a:moveTo>
                    <a:pt x="0" y="0"/>
                  </a:moveTo>
                  <a:lnTo>
                    <a:pt x="2105282" y="0"/>
                  </a:lnTo>
                  <a:lnTo>
                    <a:pt x="210528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1F0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5282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20191" y="1233054"/>
            <a:ext cx="5708198" cy="3856055"/>
          </a:xfrm>
          <a:custGeom>
            <a:avLst/>
            <a:gdLst/>
            <a:ahLst/>
            <a:cxnLst/>
            <a:rect r="r" b="b" t="t" l="l"/>
            <a:pathLst>
              <a:path h="3856055" w="5708198">
                <a:moveTo>
                  <a:pt x="0" y="0"/>
                </a:moveTo>
                <a:lnTo>
                  <a:pt x="5708198" y="0"/>
                </a:lnTo>
                <a:lnTo>
                  <a:pt x="5708198" y="3856055"/>
                </a:lnTo>
                <a:lnTo>
                  <a:pt x="0" y="3856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172" b="-589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20191" y="5250859"/>
            <a:ext cx="5708198" cy="3803087"/>
          </a:xfrm>
          <a:custGeom>
            <a:avLst/>
            <a:gdLst/>
            <a:ahLst/>
            <a:cxnLst/>
            <a:rect r="r" b="b" t="t" l="l"/>
            <a:pathLst>
              <a:path h="3803087" w="5708198">
                <a:moveTo>
                  <a:pt x="0" y="0"/>
                </a:moveTo>
                <a:lnTo>
                  <a:pt x="5708198" y="0"/>
                </a:lnTo>
                <a:lnTo>
                  <a:pt x="5708198" y="3803087"/>
                </a:lnTo>
                <a:lnTo>
                  <a:pt x="0" y="3803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64299" y="3651652"/>
            <a:ext cx="713906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Ușor de implementat (tehnologii web standard)</a:t>
            </a:r>
          </a:p>
          <a:p>
            <a:pPr algn="l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Rulează local, fără domeniu sau hosting</a:t>
            </a:r>
          </a:p>
          <a:p>
            <a:pPr algn="l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Hosting necesar doar pentru publicare online</a:t>
            </a:r>
          </a:p>
          <a:p>
            <a:pPr algn="l" marL="734063" indent="-367031" lvl="1">
              <a:lnSpc>
                <a:spcPts val="4760"/>
              </a:lnSpc>
              <a:spcBef>
                <a:spcPct val="0"/>
              </a:spcBef>
              <a:buFont typeface="Arial"/>
              <a:buChar char="•"/>
            </a:pPr>
            <a:r>
              <a:rPr lang="en-US" sz="3400">
                <a:solidFill>
                  <a:srgbClr val="272B65"/>
                </a:solidFill>
                <a:latin typeface="Open Sans"/>
                <a:ea typeface="Open Sans"/>
                <a:cs typeface="Open Sans"/>
                <a:sym typeface="Open Sans"/>
              </a:rPr>
              <a:t>Potrivit pentru mediul educațional (grădinițe)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4299" y="1838497"/>
            <a:ext cx="671829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FEZABILITATE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07434" y="-404455"/>
            <a:ext cx="20839160" cy="5038387"/>
            <a:chOff x="0" y="0"/>
            <a:chExt cx="5488503" cy="1326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8503" cy="1326983"/>
            </a:xfrm>
            <a:custGeom>
              <a:avLst/>
              <a:gdLst/>
              <a:ahLst/>
              <a:cxnLst/>
              <a:rect r="r" b="b" t="t" l="l"/>
              <a:pathLst>
                <a:path h="1326983" w="5488503">
                  <a:moveTo>
                    <a:pt x="0" y="0"/>
                  </a:moveTo>
                  <a:lnTo>
                    <a:pt x="5488503" y="0"/>
                  </a:lnTo>
                  <a:lnTo>
                    <a:pt x="5488503" y="1326983"/>
                  </a:lnTo>
                  <a:lnTo>
                    <a:pt x="0" y="1326983"/>
                  </a:lnTo>
                  <a:close/>
                </a:path>
              </a:pathLst>
            </a:custGeom>
            <a:solidFill>
              <a:srgbClr val="F1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8503" cy="137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2637" y="3380498"/>
            <a:ext cx="16102726" cy="6030202"/>
            <a:chOff x="0" y="0"/>
            <a:chExt cx="21470302" cy="80402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856673" y="1410181"/>
              <a:ext cx="2806814" cy="6393299"/>
            </a:xfrm>
            <a:custGeom>
              <a:avLst/>
              <a:gdLst/>
              <a:ahLst/>
              <a:cxnLst/>
              <a:rect r="r" b="b" t="t" l="l"/>
              <a:pathLst>
                <a:path h="6393299" w="2806814">
                  <a:moveTo>
                    <a:pt x="0" y="0"/>
                  </a:moveTo>
                  <a:lnTo>
                    <a:pt x="2806814" y="0"/>
                  </a:lnTo>
                  <a:lnTo>
                    <a:pt x="2806814" y="6393299"/>
                  </a:lnTo>
                  <a:lnTo>
                    <a:pt x="0" y="639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049858" y="1646970"/>
              <a:ext cx="2806814" cy="6393299"/>
            </a:xfrm>
            <a:custGeom>
              <a:avLst/>
              <a:gdLst/>
              <a:ahLst/>
              <a:cxnLst/>
              <a:rect r="r" b="b" t="t" l="l"/>
              <a:pathLst>
                <a:path h="6393299" w="2806814">
                  <a:moveTo>
                    <a:pt x="0" y="0"/>
                  </a:moveTo>
                  <a:lnTo>
                    <a:pt x="2806815" y="0"/>
                  </a:lnTo>
                  <a:lnTo>
                    <a:pt x="2806815" y="6393299"/>
                  </a:lnTo>
                  <a:lnTo>
                    <a:pt x="0" y="639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0243044" y="1646970"/>
              <a:ext cx="2806814" cy="6393299"/>
            </a:xfrm>
            <a:custGeom>
              <a:avLst/>
              <a:gdLst/>
              <a:ahLst/>
              <a:cxnLst/>
              <a:rect r="r" b="b" t="t" l="l"/>
              <a:pathLst>
                <a:path h="6393299" w="2806814">
                  <a:moveTo>
                    <a:pt x="0" y="0"/>
                  </a:moveTo>
                  <a:lnTo>
                    <a:pt x="2806814" y="0"/>
                  </a:lnTo>
                  <a:lnTo>
                    <a:pt x="2806814" y="6393299"/>
                  </a:lnTo>
                  <a:lnTo>
                    <a:pt x="0" y="639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436230" y="1646970"/>
              <a:ext cx="2806814" cy="6393299"/>
            </a:xfrm>
            <a:custGeom>
              <a:avLst/>
              <a:gdLst/>
              <a:ahLst/>
              <a:cxnLst/>
              <a:rect r="r" b="b" t="t" l="l"/>
              <a:pathLst>
                <a:path h="6393299" w="2806814">
                  <a:moveTo>
                    <a:pt x="0" y="0"/>
                  </a:moveTo>
                  <a:lnTo>
                    <a:pt x="2806814" y="0"/>
                  </a:lnTo>
                  <a:lnTo>
                    <a:pt x="2806814" y="6393299"/>
                  </a:lnTo>
                  <a:lnTo>
                    <a:pt x="0" y="639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29874" y="1989941"/>
              <a:ext cx="4105489" cy="6050328"/>
            </a:xfrm>
            <a:custGeom>
              <a:avLst/>
              <a:gdLst/>
              <a:ahLst/>
              <a:cxnLst/>
              <a:rect r="r" b="b" t="t" l="l"/>
              <a:pathLst>
                <a:path h="6050328" w="4105489">
                  <a:moveTo>
                    <a:pt x="0" y="0"/>
                  </a:moveTo>
                  <a:lnTo>
                    <a:pt x="4105489" y="0"/>
                  </a:lnTo>
                  <a:lnTo>
                    <a:pt x="4105489" y="6050328"/>
                  </a:lnTo>
                  <a:lnTo>
                    <a:pt x="0" y="6050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-5456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29874" cy="8040269"/>
            </a:xfrm>
            <a:custGeom>
              <a:avLst/>
              <a:gdLst/>
              <a:ahLst/>
              <a:cxnLst/>
              <a:rect r="r" b="b" t="t" l="l"/>
              <a:pathLst>
                <a:path h="8040269" w="3529874">
                  <a:moveTo>
                    <a:pt x="0" y="0"/>
                  </a:moveTo>
                  <a:lnTo>
                    <a:pt x="3529874" y="0"/>
                  </a:lnTo>
                  <a:lnTo>
                    <a:pt x="3529874" y="8040269"/>
                  </a:lnTo>
                  <a:lnTo>
                    <a:pt x="0" y="8040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663487" y="1410181"/>
              <a:ext cx="2806814" cy="6393299"/>
            </a:xfrm>
            <a:custGeom>
              <a:avLst/>
              <a:gdLst/>
              <a:ahLst/>
              <a:cxnLst/>
              <a:rect r="r" b="b" t="t" l="l"/>
              <a:pathLst>
                <a:path h="6393299" w="2806814">
                  <a:moveTo>
                    <a:pt x="0" y="0"/>
                  </a:moveTo>
                  <a:lnTo>
                    <a:pt x="2806815" y="0"/>
                  </a:lnTo>
                  <a:lnTo>
                    <a:pt x="2806815" y="6393299"/>
                  </a:lnTo>
                  <a:lnTo>
                    <a:pt x="0" y="639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30452" y="1034650"/>
            <a:ext cx="10428848" cy="210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091" indent="-325045" lvl="1">
              <a:lnSpc>
                <a:spcPts val="4215"/>
              </a:lnSpc>
              <a:buFont typeface="Arial"/>
              <a:buChar char="•"/>
            </a:pPr>
            <a:r>
              <a:rPr lang="en-US" b="true" sz="3011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Adăugarea de noi meserii</a:t>
            </a:r>
          </a:p>
          <a:p>
            <a:pPr algn="l" marL="650091" indent="-325045" lvl="1">
              <a:lnSpc>
                <a:spcPts val="4215"/>
              </a:lnSpc>
              <a:buFont typeface="Arial"/>
              <a:buChar char="•"/>
            </a:pPr>
            <a:r>
              <a:rPr lang="en-US" b="true" sz="3011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Mai multe jocuri pentru fiecare meserie</a:t>
            </a:r>
          </a:p>
          <a:p>
            <a:pPr algn="l" marL="650091" indent="-325045" lvl="1">
              <a:lnSpc>
                <a:spcPts val="4215"/>
              </a:lnSpc>
              <a:buFont typeface="Arial"/>
              <a:buChar char="•"/>
            </a:pPr>
            <a:r>
              <a:rPr lang="en-US" b="true" sz="3011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Îmbunătățirea accesibilității</a:t>
            </a:r>
          </a:p>
          <a:p>
            <a:pPr algn="l" marL="650091" indent="-325045" lvl="1">
              <a:lnSpc>
                <a:spcPts val="421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1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Ajustarea nivelului de dificultate în funcție de varstă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96550"/>
            <a:ext cx="8115300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DEZVOLTĂRI ULTERIOARE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83826" y="7518083"/>
            <a:ext cx="2260128" cy="2768917"/>
          </a:xfrm>
          <a:custGeom>
            <a:avLst/>
            <a:gdLst/>
            <a:ahLst/>
            <a:cxnLst/>
            <a:rect r="r" b="b" t="t" l="l"/>
            <a:pathLst>
              <a:path h="2768917" w="2260128">
                <a:moveTo>
                  <a:pt x="0" y="0"/>
                </a:moveTo>
                <a:lnTo>
                  <a:pt x="2260129" y="0"/>
                </a:lnTo>
                <a:lnTo>
                  <a:pt x="2260129" y="2768917"/>
                </a:lnTo>
                <a:lnTo>
                  <a:pt x="0" y="27689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87496" y="9130565"/>
            <a:ext cx="1250200" cy="1156435"/>
          </a:xfrm>
          <a:custGeom>
            <a:avLst/>
            <a:gdLst/>
            <a:ahLst/>
            <a:cxnLst/>
            <a:rect r="r" b="b" t="t" l="l"/>
            <a:pathLst>
              <a:path h="1156435" w="1250200">
                <a:moveTo>
                  <a:pt x="0" y="0"/>
                </a:moveTo>
                <a:lnTo>
                  <a:pt x="1250200" y="0"/>
                </a:lnTo>
                <a:lnTo>
                  <a:pt x="1250200" y="1156435"/>
                </a:lnTo>
                <a:lnTo>
                  <a:pt x="0" y="1156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7707" y="8868161"/>
            <a:ext cx="1661891" cy="1418839"/>
          </a:xfrm>
          <a:custGeom>
            <a:avLst/>
            <a:gdLst/>
            <a:ahLst/>
            <a:cxnLst/>
            <a:rect r="r" b="b" t="t" l="l"/>
            <a:pathLst>
              <a:path h="1418839" w="1661891">
                <a:moveTo>
                  <a:pt x="0" y="0"/>
                </a:moveTo>
                <a:lnTo>
                  <a:pt x="1661891" y="0"/>
                </a:lnTo>
                <a:lnTo>
                  <a:pt x="1661891" y="1418839"/>
                </a:lnTo>
                <a:lnTo>
                  <a:pt x="0" y="1418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68535" y="7518083"/>
            <a:ext cx="3249585" cy="2768917"/>
          </a:xfrm>
          <a:custGeom>
            <a:avLst/>
            <a:gdLst/>
            <a:ahLst/>
            <a:cxnLst/>
            <a:rect r="r" b="b" t="t" l="l"/>
            <a:pathLst>
              <a:path h="2768917" w="3249585">
                <a:moveTo>
                  <a:pt x="0" y="0"/>
                </a:moveTo>
                <a:lnTo>
                  <a:pt x="3249585" y="0"/>
                </a:lnTo>
                <a:lnTo>
                  <a:pt x="3249585" y="2768917"/>
                </a:lnTo>
                <a:lnTo>
                  <a:pt x="0" y="27689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6561" y="9368501"/>
            <a:ext cx="1465690" cy="918499"/>
          </a:xfrm>
          <a:custGeom>
            <a:avLst/>
            <a:gdLst/>
            <a:ahLst/>
            <a:cxnLst/>
            <a:rect r="r" b="b" t="t" l="l"/>
            <a:pathLst>
              <a:path h="918499" w="1465690">
                <a:moveTo>
                  <a:pt x="0" y="0"/>
                </a:moveTo>
                <a:lnTo>
                  <a:pt x="1465690" y="0"/>
                </a:lnTo>
                <a:lnTo>
                  <a:pt x="1465690" y="918499"/>
                </a:lnTo>
                <a:lnTo>
                  <a:pt x="0" y="9184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810274" y="8302497"/>
            <a:ext cx="3226835" cy="1984503"/>
          </a:xfrm>
          <a:custGeom>
            <a:avLst/>
            <a:gdLst/>
            <a:ahLst/>
            <a:cxnLst/>
            <a:rect r="r" b="b" t="t" l="l"/>
            <a:pathLst>
              <a:path h="1984503" w="3226835">
                <a:moveTo>
                  <a:pt x="0" y="0"/>
                </a:moveTo>
                <a:lnTo>
                  <a:pt x="3226835" y="0"/>
                </a:lnTo>
                <a:lnTo>
                  <a:pt x="3226835" y="1984503"/>
                </a:lnTo>
                <a:lnTo>
                  <a:pt x="0" y="19845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34576" y="733425"/>
            <a:ext cx="12618848" cy="269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9"/>
              </a:lnSpc>
            </a:pPr>
            <a:r>
              <a:rPr lang="en-US" sz="15792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Mulțumim!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12211" y="3642373"/>
            <a:ext cx="3863578" cy="72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272B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Reflecții finale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45239" y="4466790"/>
            <a:ext cx="4997523" cy="290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208" indent="-256104" lvl="1">
              <a:lnSpc>
                <a:spcPts val="3321"/>
              </a:lnSpc>
              <a:buFont typeface="Arial"/>
              <a:buChar char="•"/>
            </a:pPr>
            <a:r>
              <a:rPr lang="en-US" b="true" sz="2372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Activitate plăcută și lejeră</a:t>
            </a:r>
          </a:p>
          <a:p>
            <a:pPr algn="l" marL="512208" indent="-256104" lvl="1">
              <a:lnSpc>
                <a:spcPts val="3321"/>
              </a:lnSpc>
              <a:buFont typeface="Arial"/>
              <a:buChar char="•"/>
            </a:pPr>
            <a:r>
              <a:rPr lang="en-US" b="true" sz="2372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Învățare practică, creativă</a:t>
            </a:r>
          </a:p>
          <a:p>
            <a:pPr algn="l" marL="512208" indent="-256104" lvl="1">
              <a:lnSpc>
                <a:spcPts val="3321"/>
              </a:lnSpc>
              <a:buFont typeface="Arial"/>
              <a:buChar char="•"/>
            </a:pPr>
            <a:r>
              <a:rPr lang="en-US" b="true" sz="2372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Am învățat:</a:t>
            </a:r>
          </a:p>
          <a:p>
            <a:pPr algn="l" marL="1024416" indent="-341472" lvl="2">
              <a:lnSpc>
                <a:spcPts val="3321"/>
              </a:lnSpc>
              <a:buFont typeface="Arial"/>
              <a:buChar char="⚬"/>
            </a:pPr>
            <a:r>
              <a:rPr lang="en-US" b="true" sz="2372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design centrat pe utilizator</a:t>
            </a:r>
          </a:p>
          <a:p>
            <a:pPr algn="l" marL="1024416" indent="-341472" lvl="2">
              <a:lnSpc>
                <a:spcPts val="3321"/>
              </a:lnSpc>
              <a:buFont typeface="Arial"/>
              <a:buChar char="⚬"/>
            </a:pPr>
            <a:r>
              <a:rPr lang="en-US" b="true" sz="2372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lucrul în echipă</a:t>
            </a:r>
          </a:p>
          <a:p>
            <a:pPr algn="l" marL="1024416" indent="-341472" lvl="2">
              <a:lnSpc>
                <a:spcPts val="3321"/>
              </a:lnSpc>
              <a:buFont typeface="Arial"/>
              <a:buChar char="⚬"/>
            </a:pPr>
            <a:r>
              <a:rPr lang="en-US" b="true" sz="2372">
                <a:solidFill>
                  <a:srgbClr val="272B65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adaptarea aplicațiilor pentru copii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543955" y="7957103"/>
            <a:ext cx="10917888" cy="2496234"/>
            <a:chOff x="0" y="0"/>
            <a:chExt cx="14557184" cy="33283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488037" y="1734912"/>
              <a:ext cx="879791" cy="1466318"/>
            </a:xfrm>
            <a:custGeom>
              <a:avLst/>
              <a:gdLst/>
              <a:ahLst/>
              <a:cxnLst/>
              <a:rect r="r" b="b" t="t" l="l"/>
              <a:pathLst>
                <a:path h="1466318" w="879791">
                  <a:moveTo>
                    <a:pt x="0" y="0"/>
                  </a:moveTo>
                  <a:lnTo>
                    <a:pt x="879791" y="0"/>
                  </a:lnTo>
                  <a:lnTo>
                    <a:pt x="879791" y="1466318"/>
                  </a:lnTo>
                  <a:lnTo>
                    <a:pt x="0" y="1466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239966" y="1963931"/>
              <a:ext cx="1402346" cy="1254515"/>
            </a:xfrm>
            <a:custGeom>
              <a:avLst/>
              <a:gdLst/>
              <a:ahLst/>
              <a:cxnLst/>
              <a:rect r="r" b="b" t="t" l="l"/>
              <a:pathLst>
                <a:path h="1254515" w="1402346">
                  <a:moveTo>
                    <a:pt x="0" y="0"/>
                  </a:moveTo>
                  <a:lnTo>
                    <a:pt x="1402346" y="0"/>
                  </a:lnTo>
                  <a:lnTo>
                    <a:pt x="1402346" y="1254515"/>
                  </a:lnTo>
                  <a:lnTo>
                    <a:pt x="0" y="1254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384227" y="233038"/>
              <a:ext cx="4041707" cy="3095274"/>
            </a:xfrm>
            <a:custGeom>
              <a:avLst/>
              <a:gdLst/>
              <a:ahLst/>
              <a:cxnLst/>
              <a:rect r="r" b="b" t="t" l="l"/>
              <a:pathLst>
                <a:path h="3095274" w="4041707">
                  <a:moveTo>
                    <a:pt x="0" y="0"/>
                  </a:moveTo>
                  <a:lnTo>
                    <a:pt x="4041708" y="0"/>
                  </a:lnTo>
                  <a:lnTo>
                    <a:pt x="4041708" y="3095274"/>
                  </a:lnTo>
                  <a:lnTo>
                    <a:pt x="0" y="3095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557375" y="233038"/>
              <a:ext cx="3999809" cy="2968192"/>
            </a:xfrm>
            <a:custGeom>
              <a:avLst/>
              <a:gdLst/>
              <a:ahLst/>
              <a:cxnLst/>
              <a:rect r="r" b="b" t="t" l="l"/>
              <a:pathLst>
                <a:path h="2968192" w="3999809">
                  <a:moveTo>
                    <a:pt x="0" y="0"/>
                  </a:moveTo>
                  <a:lnTo>
                    <a:pt x="3999809" y="0"/>
                  </a:lnTo>
                  <a:lnTo>
                    <a:pt x="3999809" y="2968192"/>
                  </a:lnTo>
                  <a:lnTo>
                    <a:pt x="0" y="296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9171308" y="1814698"/>
              <a:ext cx="1532371" cy="1340186"/>
            </a:xfrm>
            <a:custGeom>
              <a:avLst/>
              <a:gdLst/>
              <a:ahLst/>
              <a:cxnLst/>
              <a:rect r="r" b="b" t="t" l="l"/>
              <a:pathLst>
                <a:path h="1340186" w="1532371">
                  <a:moveTo>
                    <a:pt x="0" y="0"/>
                  </a:moveTo>
                  <a:lnTo>
                    <a:pt x="1532371" y="0"/>
                  </a:lnTo>
                  <a:lnTo>
                    <a:pt x="1532371" y="1340187"/>
                  </a:lnTo>
                  <a:lnTo>
                    <a:pt x="0" y="1340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1014" cy="3218446"/>
            </a:xfrm>
            <a:custGeom>
              <a:avLst/>
              <a:gdLst/>
              <a:ahLst/>
              <a:cxnLst/>
              <a:rect r="r" b="b" t="t" l="l"/>
              <a:pathLst>
                <a:path h="3218446" w="3591014">
                  <a:moveTo>
                    <a:pt x="0" y="0"/>
                  </a:moveTo>
                  <a:lnTo>
                    <a:pt x="3591014" y="0"/>
                  </a:lnTo>
                  <a:lnTo>
                    <a:pt x="3591014" y="3218446"/>
                  </a:lnTo>
                  <a:lnTo>
                    <a:pt x="0" y="3218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DAG9pxkNd0A</dc:identifier>
  <dcterms:modified xsi:type="dcterms:W3CDTF">2011-08-01T06:04:30Z</dcterms:modified>
  <cp:revision>1</cp:revision>
  <dc:title>Prezenare IoC - Echipa 234</dc:title>
</cp:coreProperties>
</file>